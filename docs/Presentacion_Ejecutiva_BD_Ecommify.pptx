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HÍBRIDA DE BASE DE DATOS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Ecommify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Conceptual y Lógico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e-commerce multivendedor de productos tecnológicos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8046720" cy="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Ricardo Grandas Cárdenas  ·  Danilo Andrés Cortés Saavedra  ·  Edisson Steven Bustos Galeano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La Sabana  ·  Maestría en Arquitectura de Software  ·  Mayo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4206240"/>
            <a:ext cx="1463040" cy="365760"/>
          </a:xfrm>
          <a:prstGeom prst="roundRect">
            <a:avLst>
              <a:gd name="adj" fmla="val 12500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206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M0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Proyecto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99.441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96.096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(customers)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32.951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188720"/>
            <a:ext cx="19202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112.650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(order_items)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E-commerce multivendedor de productos tecnológicos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Dataset: Brazilian E-commerce (Olist) en Kaggle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 tablas CSV relacionadas (2016-2018)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Arquitectura Políglota Híbrida seleccionada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Ricardo Grandas Cárdenas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 técnico de bases de datos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Danilo Andrés Cortés Saavedra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Diseñador NoSQL y analítica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Edisson Steven Bustos Galeano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e integración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Híbrida Propuesta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EBF5FB"/>
          </a:solidFill>
          <a:ln w="1905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Supabase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TRANSACCIONAL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(ACID — C+P)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(96k)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(99k) — Particionado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Items (112k)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Payments (103k)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(3k)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BBDE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114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 (TSTZRANGE)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188720"/>
            <a:ext cx="3840480" cy="3474720"/>
          </a:xfrm>
          <a:prstGeom prst="rect">
            <a:avLst/>
          </a:prstGeom>
          <a:solidFill>
            <a:srgbClr val="EAFAF1"/>
          </a:solidFill>
          <a:ln w="1905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— Atlas M0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ANALÍTICO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(BASE — A+P)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28600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products_catalog (esquema flexible)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6517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(texto libre + metadata)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01752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0175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user_behavior (TTL 30 días)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383280"/>
            <a:ext cx="3474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3832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analytics_snapshots (métricas)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51960" y="2651760"/>
            <a:ext cx="640080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2651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24528" y="2971800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33672" y="3218688"/>
            <a:ext cx="6675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Entidad-Relación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3619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customer_email (UNIQUE)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shipping_address (composite)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53619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(PK)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(FK)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order_status (CHECK)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13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order_purchase_timestamp (PARTITION)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88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OrderItem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53619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5727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(PK,FK)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181965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order_item_id (PK)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206654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(FK)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3134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item_total_value (GENERATED)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OrderPayment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45643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order_id (FK)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payment_type (CHECK)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payment_value (CHECK&gt;0)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108960"/>
            <a:ext cx="265176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456432"/>
            <a:ext cx="2651760" cy="76809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seller_id (PK)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notification_emails (TEXT[])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business_hours (JSONB)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0" y="31089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(PG)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456432"/>
            <a:ext cx="26517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3493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 (PK)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373989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specifications (JSONB)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98678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 (TEXT[])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2336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mongo_product_id (bridge)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Figura 1 en INVESTIGACION_con_diagramas.docx para el diagrama ER visual completo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 Avanzados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products.specifications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{"ram_gb":16,"processor":"i7"}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TEXT[]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products.photos / tags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{"url1.jpg","url2.jpg","laptop"}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4612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74320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88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TSTZRANGE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promotions.promotion_period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92024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965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NOW() &lt;@ '[2025-06,2025-07)'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72200" y="2487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37360" y="3108960"/>
            <a:ext cx="2743200" cy="1645920"/>
          </a:xfrm>
          <a:prstGeom prst="rect">
            <a:avLst/>
          </a:prstGeom>
          <a:solidFill>
            <a:srgbClr val="FCE4EC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737360" y="3108960"/>
            <a:ext cx="2743200" cy="36576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address_type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customers.shipping_address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83080" y="38404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(calle,ciudad,estado,zip,país)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83080" y="4407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274320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sellers.business_hours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840480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8862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{"monday":"9-18","sat":"9-13"}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44074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Regla: automatiza lo específico del tipo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PostgreSQL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pg_trgm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de productos tolerante a errores tipográficos. "samsumg" → "samsung". Índice GIN.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pgcrypto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bcrypt para contraseñas. Cifrado de datos sensibles de pago con gen_random_uuid().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uuid-ossp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para IDs distribuidos. Evita colisiones entre servicios en arquitectura distribuida.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411480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240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btree_gin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compuestos eficientes en columnas JSONB y TEXT[]. Mejora queries de specifications.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383280"/>
            <a:ext cx="2651760" cy="868680"/>
          </a:xfrm>
          <a:prstGeom prst="rect">
            <a:avLst/>
          </a:prstGeom>
          <a:solidFill>
            <a:srgbClr val="FFF3E0"/>
          </a:solidFill>
          <a:ln w="1016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Evaluar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de distancia vendedor-cliente para costos de envío. Dataset Olist tiene lat/lng.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3320" y="3383280"/>
            <a:ext cx="2651760" cy="868680"/>
          </a:xfrm>
          <a:prstGeom prst="rect">
            <a:avLst/>
          </a:prstGeom>
          <a:solidFill>
            <a:srgbClr val="D4EDDA"/>
          </a:solidFill>
          <a:ln w="10160">
            <a:solidFill>
              <a:srgbClr val="1A6B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947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pg_stat_statements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Usar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947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 queries lentas. Detectar N+1 queries y optimizar en producción.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75120" y="3383280"/>
            <a:ext cx="2651760" cy="868680"/>
          </a:xfrm>
          <a:prstGeom prst="rect">
            <a:avLst/>
          </a:prstGeom>
          <a:solidFill>
            <a:srgbClr val="FFEBEE"/>
          </a:solidFill>
          <a:ln w="1016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hstore </a:t>
            </a:r>
            <a:pPr indent="0" marL="0">
              <a:buNone/>
            </a:pPr>
            <a:r>
              <a:rPr lang="en-US" sz="11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Descartar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 cubierta por JSONB con mejor soporte de tipos, operadores e indexación.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Particionamiento y Vistas Materializadas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orders — PARTITION BY RANGE (order_purchase_timestamp)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846320" cy="347472"/>
          </a:xfrm>
          <a:prstGeom prst="rect">
            <a:avLst/>
          </a:prstGeom>
          <a:solidFill>
            <a:srgbClr val="E3F2F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270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2016-2017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15270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Fría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8463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3852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93852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Tibia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846320" cy="347472"/>
          </a:xfrm>
          <a:prstGeom prst="rect">
            <a:avLst/>
          </a:prstGeom>
          <a:solidFill>
            <a:srgbClr val="E8F5E9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5000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35000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Tibia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4846320" cy="347472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614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276148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Caliente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4846320" cy="347472"/>
          </a:xfrm>
          <a:prstGeom prst="rect">
            <a:avLst/>
          </a:prstGeom>
          <a:solidFill>
            <a:srgbClr val="FFCCB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7296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Q4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17296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Caliente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846320" cy="347472"/>
          </a:xfrm>
          <a:prstGeom prst="rect">
            <a:avLst/>
          </a:prstGeom>
          <a:solidFill>
            <a:srgbClr val="FFCCB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844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(DEFAULT)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84448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Activa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0" y="1097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Materializadas para OLAP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0" y="1508760"/>
            <a:ext cx="3383280" cy="1737360"/>
          </a:xfrm>
          <a:prstGeom prst="rect">
            <a:avLst/>
          </a:prstGeom>
          <a:solidFill>
            <a:srgbClr val="E3F2FD"/>
          </a:solidFill>
          <a:ln w="1016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508760"/>
            <a:ext cx="338328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mv_sales_by_category_monthly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19202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por categoría y 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domingo 2am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3429000"/>
            <a:ext cx="3383280" cy="1737360"/>
          </a:xfrm>
          <a:prstGeom prst="rect">
            <a:avLst/>
          </a:prstGeom>
          <a:solidFill>
            <a:srgbClr val="E8F5E9"/>
          </a:solidFill>
          <a:ln w="1016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3429000"/>
            <a:ext cx="3383280" cy="3657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mv_customer_segments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7840" y="38404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RFM: VIP, Regular,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Occasional,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Refresh: domingo 2:30am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32"/>
          </a:solidFill>
          <a:ln w="12700">
            <a:solidFill>
              <a:srgbClr val="1A52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MongoDB — Módulo Analítico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657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products catalog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flexible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categoría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1828800" cy="0"/>
          </a:xfrm>
          <a:prstGeom prst="line">
            <a:avLst/>
          </a:prstGeom>
          <a:noFill/>
          <a:ln w="635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004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specifications{}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fotos[]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avg_rating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828800" cy="0"/>
          </a:xfrm>
          <a:prstGeom prst="line">
            <a:avLst/>
          </a:prstGeom>
          <a:noFill/>
          <a:ln w="6350">
            <a:solidFill>
              <a:srgbClr val="2E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category+price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68880" y="1143000"/>
            <a:ext cx="2011680" cy="365760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reviews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Reseñas con texto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 y metadata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0" y="2148840"/>
            <a:ext cx="182880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title+comment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photos[]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seller_response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560320" y="3474720"/>
            <a:ext cx="1828800" cy="0"/>
          </a:xfrm>
          <a:prstGeom prst="line">
            <a:avLst/>
          </a:prstGeom>
          <a:noFill/>
          <a:ln w="635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product_id+score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201168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🖱️ user behavior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navegación TTL 30d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1828800" cy="0"/>
          </a:xfrm>
          <a:prstGeom prst="line">
            <a:avLst/>
          </a:prstGeom>
          <a:noFill/>
          <a:ln w="6350">
            <a:solidFill>
              <a:srgbClr val="2E86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0916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session_id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(TTL)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1828800" cy="0"/>
          </a:xfrm>
          <a:prstGeom prst="line">
            <a:avLst/>
          </a:prstGeom>
          <a:noFill/>
          <a:ln w="635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30 días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customer+event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58000" y="1143000"/>
            <a:ext cx="2011680" cy="365760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0" y="1143000"/>
            <a:ext cx="201168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analytics snapshots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0372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mensuales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precalculadas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49440" y="2148840"/>
            <a:ext cx="1828800" cy="0"/>
          </a:xfrm>
          <a:prstGeom prst="line">
            <a:avLst/>
          </a:prstGeom>
          <a:noFill/>
          <a:ln w="635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21945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Campos clave: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03720" y="242316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(YYYY-MM)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sales_metrics{}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delivery_metrics{}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review_metrics{}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49440" y="3474720"/>
            <a:ext cx="1828800" cy="0"/>
          </a:xfrm>
          <a:prstGeom prst="line">
            <a:avLst/>
          </a:prstGeom>
          <a:noFill/>
          <a:ln w="6350">
            <a:solidFill>
              <a:srgbClr val="6A1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3520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period+type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CAP y Matriz de Decisiones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Consistencia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Justificación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6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Pedidos (orders)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 negativo inaceptable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56232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Pagos (payments)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financiero = pérdida directa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295144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(customers)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Integridad referencial crítica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734056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 (products)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Sobreventa genera pérdidas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172968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 (catalog)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Precio desact. 5min tolerable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11880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Reseñas (reviews)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Demora en aparecer tolerable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50792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Comportamiento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no críticos; TTL 30d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89704"/>
          <a:ext cx="85953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89000"/>
                <a:gridCol w="635000"/>
                <a:gridCol w="889000"/>
                <a:gridCol w="2387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Snapshots analíticos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+ 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MongoDB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 con datos semanales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A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 Operativo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600200" cy="2103120"/>
          </a:xfrm>
          <a:prstGeom prst="rect">
            <a:avLst/>
          </a:prstGeom>
          <a:solidFill>
            <a:srgbClr val="E3F2FD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VACUUM ANALYZE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41732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Diario 3:00 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order_items,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order_payments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11680" y="1143000"/>
            <a:ext cx="1600200" cy="21031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MVs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2057400"/>
            <a:ext cx="1417320" cy="274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Domingo 2:00 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5740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mv_sales_by_category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mv_customer_segments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143000"/>
            <a:ext cx="1600200" cy="2103120"/>
          </a:xfrm>
          <a:prstGeom prst="rect">
            <a:avLst/>
          </a:prstGeom>
          <a:solidFill>
            <a:srgbClr val="FFF8E1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 Partición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2057400"/>
            <a:ext cx="141732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 1 del 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9476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partición 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siguiente en orders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143000"/>
            <a:ext cx="1600200" cy="2103120"/>
          </a:xfrm>
          <a:prstGeom prst="rect">
            <a:avLst/>
          </a:prstGeom>
          <a:solidFill>
            <a:srgbClr val="FCE4EC"/>
          </a:solidFill>
          <a:ln w="12700">
            <a:solidFill>
              <a:srgbClr val="922B2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REINDEX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77840" y="2057400"/>
            <a:ext cx="141732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Índices críticos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23760" y="1143000"/>
            <a:ext cx="1600200" cy="210312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11887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1691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MongoDB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2057400"/>
            <a:ext cx="141732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Automático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69480" y="23774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user_behavior: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&gt; 30 días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de Monitoreo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37033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OLTP (PostgreSQL):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ratio &gt; 99% · conexiones activas &lt; 60 · top queries lentas (pg_stat_statements) · tamaño particiones  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OLAP (MongoDB): </a:t>
            </a:r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antigüedad del último refresh de MVs · uso de índices en Atlas · tamaño colección user_behavior (TTL estabiliza)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y Plan de Escalamiento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61288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Supabase free: 500 MB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61288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Dataset Olist cabe holgadamente (&lt;100 MB). Si supera 400 MB: upgrade a Pro ($25/mes) o limpiar geolocation (1M filas = ~80 MB).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6537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892808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11096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Atlas M0: 512 MB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892808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911096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4 colecciones estimadas &lt; 50 MB total. Si supera 400 MB: upgrade a M2 ($9/mes) o archivar analytics_snapshots históricos.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151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22960" y="2642616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660904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Sin JOINs cross-motor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642616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660904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Consultas que cruzan PG y Mongo se resuelven en la capa de aplicación en 2 pasos secuenciales. Bridge via postgres_product_id.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36499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392424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410712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Sincronización ETL cada 5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3392424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410712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El catálogo puede mostrar datos ligeramente desactualizados. Aceptable por decisión CAP (A+P) en módulo analítico.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96512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114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4142232"/>
            <a:ext cx="2286000" cy="594360"/>
          </a:xfrm>
          <a:prstGeom prst="rect">
            <a:avLst/>
          </a:prstGeom>
          <a:solidFill>
            <a:srgbClr val="FFEBEE"/>
          </a:solidFill>
          <a:ln w="6350">
            <a:solidFill>
              <a:srgbClr val="922B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160520"/>
            <a:ext cx="219456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2B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Limitación: pg_cron en Supabase free tier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0" y="4142232"/>
            <a:ext cx="5577840" cy="594360"/>
          </a:xfrm>
          <a:prstGeom prst="rect">
            <a:avLst/>
          </a:prstGeom>
          <a:solidFill>
            <a:srgbClr val="EAFAF1"/>
          </a:solidFill>
          <a:ln w="6350">
            <a:solidFill>
              <a:srgbClr val="2E8B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160520"/>
            <a:ext cx="54864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57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Mitigación: Los jobs de mantenimiento requieren pg_cron disponible en Supabase. Alternativa: script Python en Colab con schedule.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Entregables del Proyecto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Técnico de Diseño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97680" y="1051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Documento_Tecnico_Diseno_BD_Ecommify.docx — docs/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0" y="15544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Presentacion_Ejecutiva_Ecommify.pptx — docs/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DDL PostgreSQL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postgresql/schema/ (00 a 06 scripts)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🍃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Esquemas MongoDB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2560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mongodb/schema/collections_schema.json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Google Colab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0" y="3063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notebooks/Data_Exploration_Analysis.ipynb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Extensiones 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566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docs/Extensiones_PostgreSQL_Ecommify.md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8046720" cy="0"/>
          </a:xfrm>
          <a:prstGeom prst="line">
            <a:avLst/>
          </a:prstGeom>
          <a:noFill/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B3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La Sabana  ·  Fundamentos de Diseño y Modelado de Datos  ·  César Augusto Vega Fernández  ·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Ejecutiva - Arquitectura Hibrida BD Ecommify</dc:title>
  <dc:subject>PptxGenJS Presentation</dc:subject>
  <dc:creator>Equipo Ecommify</dc:creator>
  <cp:lastModifiedBy>Equipo Ecommify</cp:lastModifiedBy>
  <cp:revision>1</cp:revision>
  <dcterms:created xsi:type="dcterms:W3CDTF">2026-05-22T03:07:21Z</dcterms:created>
  <dcterms:modified xsi:type="dcterms:W3CDTF">2026-05-22T03:07:21Z</dcterms:modified>
</cp:coreProperties>
</file>